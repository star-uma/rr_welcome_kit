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386311"/>
            <a:ext cx="7607372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2193969"/>
            <a:ext cx="10566418" cy="385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386311"/>
            <a:ext cx="7607372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2193969"/>
            <a:ext cx="10566418" cy="385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2532423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práctica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3020038"/>
            <a:ext cx="10883429" cy="772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en Windows y Linux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82" y="3969922"/>
            <a:ext cx="10883429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Desktop, Git en terminal, repositorios, issues y proyectos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GitHub: qué 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57" y="1674379"/>
            <a:ext cx="3075565" cy="1391823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555" y="1930977"/>
            <a:ext cx="2639240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ordenador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2555" y="2311887"/>
            <a:ext cx="2639240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Trabajas en una carpeta controlada por Git.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47043" y="2121387"/>
            <a:ext cx="426785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58218" y="1674379"/>
            <a:ext cx="3075565" cy="1391823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4815" y="1930977"/>
            <a:ext cx="2639240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14815" y="2311887"/>
            <a:ext cx="2639240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el repositorio en la nube.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89303" y="2121387"/>
            <a:ext cx="426785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300478" y="1674379"/>
            <a:ext cx="3075565" cy="1391823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57075" y="1930977"/>
            <a:ext cx="2639240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57075" y="2311887"/>
            <a:ext cx="2639240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Clona, revisa y colabora en el mismo proyecto.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82" y="3424941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guarda el historial de tus archivos en tu equipo. GitHub lo aloja en internet para compartirlo.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Desktop en Windows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511" y="1620422"/>
            <a:ext cx="10876079" cy="208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271" indent="-254271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 instala GitHub Desktop desde desktop.github.com</a:t>
            </a:r>
            <a:endParaRPr lang="en-US" sz="1800" dirty="0"/>
          </a:p>
          <a:p>
            <a:pPr algn="l" marL="254271" indent="-254271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sesión con tu cuenta de GitHub</a:t>
            </a:r>
            <a:endParaRPr lang="en-US" sz="1800" dirty="0"/>
          </a:p>
          <a:p>
            <a:pPr algn="l" marL="254271" indent="-254271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› Clone repository: elige el repositorio y la carpeta</a:t>
            </a:r>
            <a:endParaRPr lang="en-US" sz="1800" dirty="0"/>
          </a:p>
          <a:p>
            <a:pPr algn="l" marL="254271" indent="-254271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 archivos y revisa los cambios en la pestaña Changes</a:t>
            </a:r>
            <a:endParaRPr lang="en-US" sz="1800" dirty="0"/>
          </a:p>
          <a:p>
            <a:pPr algn="l" marL="254271" indent="-254271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 resumen y pulsa Commit to main</a:t>
            </a:r>
            <a:endParaRPr lang="en-US" sz="1800" dirty="0"/>
          </a:p>
          <a:p>
            <a:pPr algn="l" marL="254271" indent="-254271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Push origin para subir los cambios a GitHub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1959840"/>
            <a:ext cx="3401060" cy="919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GitHub Desktop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82" y="3031674"/>
            <a:ext cx="3401060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Arriba: repositorio y rama.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782" y="3476082"/>
            <a:ext cx="3401060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Izquierda: archivos modificados.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782" y="3920492"/>
            <a:ext cx="3401060" cy="55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Derecha: líneas añadidas y borradas.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782" y="4631530"/>
            <a:ext cx="3401060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5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Abajo: resumen y botón Commit.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4303" y="2050599"/>
            <a:ext cx="6851650" cy="2756802"/>
          </a:xfrm>
          <a:prstGeom prst="roundRect">
            <a:avLst>
              <a:gd name="adj" fmla="val 3570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900" y="2053196"/>
            <a:ext cx="6846454" cy="485089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4704682" y="2180196"/>
            <a:ext cx="2094057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Repositorio: mi-proyecto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98739" y="2180196"/>
            <a:ext cx="1067991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Rama: 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93513" y="2180196"/>
            <a:ext cx="103519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origin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63725" y="2538285"/>
            <a:ext cx="0" cy="2266517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4682" y="2716067"/>
            <a:ext cx="2244023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(2)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4682" y="3048721"/>
            <a:ext cx="2244023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index.html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4682" y="3381373"/>
            <a:ext cx="2244023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estilos.css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7857" y="3717203"/>
            <a:ext cx="2172313" cy="396298"/>
          </a:xfrm>
          <a:prstGeom prst="roundRect">
            <a:avLst>
              <a:gd name="adj" fmla="val 12017"/>
            </a:avLst>
          </a:prstGeom>
          <a:noFill/>
          <a:ln w="6350">
            <a:solidFill>
              <a:srgbClr val="30363D"/>
            </a:solidFill>
            <a:prstDash val="solid"/>
          </a:ln>
        </p:spPr>
        <p:txBody>
          <a:bodyPr wrap="square" lIns="102931" tIns="77549" rIns="44774" bIns="5204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cambio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4682" y="4218239"/>
            <a:ext cx="2178663" cy="408781"/>
          </a:xfrm>
          <a:prstGeom prst="roundRect">
            <a:avLst>
              <a:gd name="adj" fmla="val 12427"/>
            </a:avLst>
          </a:prstGeom>
          <a:solidFill>
            <a:srgbClr val="238636"/>
          </a:solidFill>
          <a:ln/>
        </p:spPr>
        <p:txBody>
          <a:bodyPr wrap="square" lIns="99403" tIns="74021" rIns="40900" bIns="48513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main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44683" y="2716067"/>
            <a:ext cx="406941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index.html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44683" y="2980260"/>
            <a:ext cx="3950891" cy="340410"/>
          </a:xfrm>
          <a:prstGeom prst="rect">
            <a:avLst/>
          </a:prstGeom>
          <a:solidFill>
            <a:srgbClr val="3D1F20"/>
          </a:solidFill>
          <a:ln/>
        </p:spPr>
        <p:txBody>
          <a:bodyPr wrap="square" lIns="127000" tIns="63500" rIns="16093" bIns="381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A19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&lt;h1&gt;Hola&lt;/h1&gt;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44683" y="3371452"/>
            <a:ext cx="3950891" cy="340410"/>
          </a:xfrm>
          <a:prstGeom prst="rect">
            <a:avLst/>
          </a:prstGeom>
          <a:solidFill>
            <a:srgbClr val="12261E"/>
          </a:solidFill>
          <a:ln/>
        </p:spPr>
        <p:txBody>
          <a:bodyPr wrap="square" lIns="127000" tIns="63500" rIns="16093" bIns="381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 &lt;h1&gt;Hola mundo&lt;/h1&gt;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en Linux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82" y="1569641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Desktop no tiene versión oficial para Linux: se usa Git desde la terminal.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57" y="2111301"/>
            <a:ext cx="10560086" cy="543683"/>
          </a:xfrm>
          <a:prstGeom prst="roundRect">
            <a:avLst>
              <a:gd name="adj" fmla="val 13432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683" y="2240899"/>
            <a:ext cx="6842812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sudo apt install git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8317" y="2258668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Git (Debian/Ubuntu)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57" y="2762898"/>
            <a:ext cx="10560086" cy="543683"/>
          </a:xfrm>
          <a:prstGeom prst="roundRect">
            <a:avLst>
              <a:gd name="adj" fmla="val 13432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683" y="2892496"/>
            <a:ext cx="6842812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config --global user.name "Tu Nombre"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8317" y="2910266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Identificarte (una sola vez)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57" y="3414495"/>
            <a:ext cx="10560086" cy="543683"/>
          </a:xfrm>
          <a:prstGeom prst="roundRect">
            <a:avLst>
              <a:gd name="adj" fmla="val 13432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683" y="3544094"/>
            <a:ext cx="6842812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clone https://github.com/usuario/repo.git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8317" y="3561863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Clonar un repositorio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57" y="4066093"/>
            <a:ext cx="10560086" cy="543683"/>
          </a:xfrm>
          <a:prstGeom prst="roundRect">
            <a:avLst>
              <a:gd name="adj" fmla="val 13432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683" y="4195688"/>
            <a:ext cx="6842812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add . &amp;&amp; git commit -m "mensaje"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8317" y="4213458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los cambios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57" y="4717687"/>
            <a:ext cx="10560086" cy="543683"/>
          </a:xfrm>
          <a:prstGeom prst="roundRect">
            <a:avLst>
              <a:gd name="adj" fmla="val 13432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683" y="4847286"/>
            <a:ext cx="6842812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push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8317" y="4865055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a GitHub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2088282"/>
            <a:ext cx="5049377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82" y="2794270"/>
            <a:ext cx="5049377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782" y="3068473"/>
            <a:ext cx="504937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github.com pulsa New repository.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3520461"/>
            <a:ext cx="5049377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82" y="3794665"/>
            <a:ext cx="504937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nombre y si será público o privado.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82" y="4246652"/>
            <a:ext cx="5049377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782" y="4520856"/>
            <a:ext cx="504937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un README que explique el proyecto.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5393" y="1853695"/>
            <a:ext cx="5200650" cy="3150520"/>
          </a:xfrm>
          <a:prstGeom prst="roundRect">
            <a:avLst>
              <a:gd name="adj" fmla="val 3124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990" y="2110290"/>
            <a:ext cx="482807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5165" y="2415722"/>
            <a:ext cx="4681104" cy="431746"/>
          </a:xfrm>
          <a:prstGeom prst="roundRect">
            <a:avLst>
              <a:gd name="adj" fmla="val 13972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37275" tIns="73829" rIns="6138" bIns="483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mi-proyecto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1990" y="2939489"/>
            <a:ext cx="482807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5165" y="3244921"/>
            <a:ext cx="4681104" cy="431746"/>
          </a:xfrm>
          <a:prstGeom prst="roundRect">
            <a:avLst>
              <a:gd name="adj" fmla="val 13972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37275" tIns="73829" rIns="6138" bIns="483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Public   ○ Private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35165" y="3771863"/>
            <a:ext cx="4681104" cy="431746"/>
          </a:xfrm>
          <a:prstGeom prst="roundRect">
            <a:avLst>
              <a:gd name="adj" fmla="val 13972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37275" tIns="73829" rIns="6138" bIns="483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a README 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1990" y="4295629"/>
            <a:ext cx="4687454" cy="451987"/>
          </a:xfrm>
          <a:prstGeom prst="roundRect">
            <a:avLst>
              <a:gd name="adj" fmla="val 14049"/>
            </a:avLst>
          </a:prstGeom>
          <a:solidFill>
            <a:srgbClr val="1A7F37"/>
          </a:solidFill>
          <a:ln/>
        </p:spPr>
        <p:txBody>
          <a:bodyPr wrap="square" lIns="133747" tIns="83001" rIns="2264" bIns="57529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y pull requests</a:t>
            </a:r>
            <a:endParaRPr lang="en-US" sz="3600" dirty="0"/>
          </a:p>
        </p:txBody>
      </p:sp>
      <p:pic>
        <p:nvPicPr>
          <p:cNvPr id="3" name="Image 0" descr="Diagrama: la rama nueva-rama sale de main, recibe commits y se fusiona de vuelta">    </p:cNvPr>
          <p:cNvPicPr>
            <a:picLocks noChangeAspect="1"/>
          </p:cNvPicPr>
          <p:nvPr/>
        </p:nvPicPr>
        <p:blipFill>
          <a:blip r:embed="rId1"/>
          <a:srcRect l="0" r="0" t="-55" b="-55"/>
          <a:stretch/>
        </p:blipFill>
        <p:spPr>
          <a:xfrm>
            <a:off x="812782" y="1569641"/>
            <a:ext cx="10566346" cy="215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2" y="3982638"/>
            <a:ext cx="3386697" cy="622192"/>
          </a:xfrm>
          <a:prstGeom prst="roundRect">
            <a:avLst>
              <a:gd name="adj" fmla="val 16329"/>
            </a:avLst>
          </a:prstGeom>
          <a:solidFill>
            <a:srgbClr val="21262D"/>
          </a:solidFill>
          <a:ln/>
        </p:spPr>
        <p:txBody>
          <a:bodyPr wrap="square" lIns="148024" tIns="148042" rIns="57091" bIns="122606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50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 una rama desde main.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402606" y="3982638"/>
            <a:ext cx="3386787" cy="622192"/>
          </a:xfrm>
          <a:prstGeom prst="roundRect">
            <a:avLst>
              <a:gd name="adj" fmla="val 16329"/>
            </a:avLst>
          </a:prstGeom>
          <a:solidFill>
            <a:srgbClr val="21262D"/>
          </a:solidFill>
          <a:ln/>
        </p:spPr>
        <p:txBody>
          <a:bodyPr wrap="square" lIns="148024" tIns="148042" rIns="57088" bIns="122606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50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Haz commits en ella y súbela.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92521" y="3982638"/>
            <a:ext cx="3386697" cy="622192"/>
          </a:xfrm>
          <a:prstGeom prst="roundRect">
            <a:avLst>
              <a:gd name="adj" fmla="val 16329"/>
            </a:avLst>
          </a:prstGeom>
          <a:solidFill>
            <a:srgbClr val="21262D"/>
          </a:solidFill>
          <a:ln/>
        </p:spPr>
        <p:txBody>
          <a:bodyPr wrap="square" lIns="148025" tIns="148042" rIns="57090" bIns="122606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500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Abre el pull request y fusiona.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2088285"/>
            <a:ext cx="4787757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82" y="2794273"/>
            <a:ext cx="4787757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782" y="3068476"/>
            <a:ext cx="478775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Issues › New issue, con título claro.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3520464"/>
            <a:ext cx="4787757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782" y="3794668"/>
            <a:ext cx="478775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Labels, responsables y milestones.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82" y="4246652"/>
            <a:ext cx="4787757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782" y="4520856"/>
            <a:ext cx="478775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#12 en un pull request lo cierra al fusionar.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21393" y="2452346"/>
            <a:ext cx="5454650" cy="1953220"/>
          </a:xfrm>
          <a:prstGeom prst="roundRect">
            <a:avLst>
              <a:gd name="adj" fmla="val 5039"/>
            </a:avLst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7991" y="2708945"/>
            <a:ext cx="5089698" cy="31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6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al iniciar sesión #12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177991" y="3125484"/>
            <a:ext cx="736925" cy="289538"/>
          </a:xfrm>
          <a:custGeom>
            <a:avLst/>
            <a:gdLst/>
            <a:ahLst/>
            <a:cxnLst/>
            <a:rect l="l" t="t" r="r" b="b"/>
            <a:pathLst>
              <a:path w="736925" h="289538">
                <a:moveTo>
                  <a:pt x="144769" y="0"/>
                </a:moveTo>
                <a:lnTo>
                  <a:pt x="592156" y="0"/>
                </a:lnTo>
                <a:arcTo hR="144769" wR="144769" stAng="16200000" swAng="5400000"/>
                <a:lnTo>
                  <a:pt x="736925" y="144769"/>
                </a:lnTo>
                <a:arcTo hR="144769" wR="144769" stAng="0" swAng="5400000"/>
                <a:lnTo>
                  <a:pt x="144769" y="289538"/>
                </a:lnTo>
                <a:arcTo hR="144769" wR="144769" stAng="5400000" swAng="5400000"/>
                <a:lnTo>
                  <a:pt x="0" y="144769"/>
                </a:lnTo>
                <a:arcTo hR="144769" wR="144769" stAng="10800000" swAng="5400000"/>
                <a:close/>
              </a:path>
            </a:pathLst>
          </a:custGeom>
          <a:solidFill>
            <a:srgbClr val="23863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1043" y="3125484"/>
            <a:ext cx="508361" cy="289538"/>
          </a:xfrm>
          <a:custGeom>
            <a:avLst/>
            <a:gdLst/>
            <a:ahLst/>
            <a:cxnLst/>
            <a:rect l="l" t="t" r="r" b="b"/>
            <a:pathLst>
              <a:path w="508361" h="289538">
                <a:moveTo>
                  <a:pt x="144769" y="0"/>
                </a:moveTo>
                <a:lnTo>
                  <a:pt x="363592" y="0"/>
                </a:lnTo>
                <a:arcTo hR="144769" wR="144769" stAng="16200000" swAng="5400000"/>
                <a:lnTo>
                  <a:pt x="508361" y="144769"/>
                </a:lnTo>
                <a:arcTo hR="144769" wR="144769" stAng="0" swAng="5400000"/>
                <a:lnTo>
                  <a:pt x="144769" y="289538"/>
                </a:lnTo>
                <a:arcTo hR="144769" wR="144769" stAng="5400000" swAng="5400000"/>
                <a:lnTo>
                  <a:pt x="0" y="144769"/>
                </a:lnTo>
                <a:arcTo hR="144769" wR="144769" stAng="10800000" swAng="5400000"/>
                <a:close/>
              </a:path>
            </a:pathLst>
          </a:custGeom>
          <a:solidFill>
            <a:srgbClr val="DA363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75531" y="3125484"/>
            <a:ext cx="770930" cy="289538"/>
          </a:xfrm>
          <a:custGeom>
            <a:avLst/>
            <a:gdLst/>
            <a:ahLst/>
            <a:cxnLst/>
            <a:rect l="l" t="t" r="r" b="b"/>
            <a:pathLst>
              <a:path w="770930" h="289538">
                <a:moveTo>
                  <a:pt x="144769" y="0"/>
                </a:moveTo>
                <a:lnTo>
                  <a:pt x="626160" y="0"/>
                </a:lnTo>
                <a:arcTo hR="144769" wR="144769" stAng="16200000" swAng="5400000"/>
                <a:lnTo>
                  <a:pt x="770930" y="144769"/>
                </a:lnTo>
                <a:arcTo hR="144769" wR="144769" stAng="0" swAng="5400000"/>
                <a:lnTo>
                  <a:pt x="144769" y="289538"/>
                </a:lnTo>
                <a:arcTo hR="144769" wR="144769" stAng="5400000" swAng="5400000"/>
                <a:lnTo>
                  <a:pt x="0" y="144769"/>
                </a:lnTo>
                <a:arcTo hR="144769" wR="144769" stAng="10800000" swAng="5400000"/>
                <a:close/>
              </a:path>
            </a:pathLst>
          </a:custGeom>
          <a:solidFill>
            <a:srgbClr val="9A670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7991" y="3542019"/>
            <a:ext cx="5089698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página no carga al pulsar Entrar.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7991" y="3917879"/>
            <a:ext cx="508969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Asignado a @ana · Milestone v1.0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82" y="1569641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› New project › Board. Añade tus issues y arrástralos entre columnas.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57" y="2111301"/>
            <a:ext cx="3380347" cy="178030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683" y="2317024"/>
            <a:ext cx="3057962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hacer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858" y="2695972"/>
            <a:ext cx="2962546" cy="439413"/>
          </a:xfrm>
          <a:prstGeom prst="roundRect">
            <a:avLst>
              <a:gd name="adj" fmla="val 13729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11929" tIns="86529" rIns="30829" bIns="6105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 Añadir buscador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858" y="3243294"/>
            <a:ext cx="2962546" cy="439413"/>
          </a:xfrm>
          <a:prstGeom prst="roundRect">
            <a:avLst>
              <a:gd name="adj" fmla="val 13729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11929" tIns="86529" rIns="30829" bIns="6105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 Mejorar el README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781" y="2111301"/>
            <a:ext cx="3380437" cy="178030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507" y="2317024"/>
            <a:ext cx="3058055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4682" y="2695972"/>
            <a:ext cx="2962636" cy="439413"/>
          </a:xfrm>
          <a:prstGeom prst="roundRect">
            <a:avLst>
              <a:gd name="adj" fmla="val 13729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11929" tIns="86529" rIns="30826" bIns="6105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 Error al iniciar sesión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4682" y="3243294"/>
            <a:ext cx="2962636" cy="439413"/>
          </a:xfrm>
          <a:prstGeom prst="roundRect">
            <a:avLst>
              <a:gd name="adj" fmla="val 13729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11929" tIns="86529" rIns="30826" bIns="6105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 Nuevo diseño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696" y="2111301"/>
            <a:ext cx="3380347" cy="178030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1422" y="2317024"/>
            <a:ext cx="3057962" cy="2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04597" y="2695972"/>
            <a:ext cx="2962546" cy="439413"/>
          </a:xfrm>
          <a:prstGeom prst="roundRect">
            <a:avLst>
              <a:gd name="adj" fmla="val 13729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11929" tIns="86529" rIns="30829" bIns="6105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 Crear repositorio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04597" y="3243294"/>
            <a:ext cx="2962546" cy="439413"/>
          </a:xfrm>
          <a:prstGeom prst="roundRect">
            <a:avLst>
              <a:gd name="adj" fmla="val 13729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 wrap="square" lIns="111929" tIns="86529" rIns="30829" bIns="6105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 Elegir licencia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Hub en Windows y Linux">
  <a:themeElements>
    <a:clrScheme name="GitHub en Windows y Linux">
      <a:dk1>
        <a:srgbClr val="161B22"/>
      </a:dk1>
      <a:lt1>
        <a:srgbClr val="3FB950"/>
      </a:lt1>
      <a:dk2>
        <a:srgbClr val="1A2B27"/>
      </a:dk2>
      <a:lt2>
        <a:srgbClr val="359245"/>
      </a:lt2>
      <a:accent1>
        <a:srgbClr val="7EE787"/>
      </a:accent1>
      <a:accent2>
        <a:srgbClr val="1A7F37"/>
      </a:accent2>
      <a:accent3>
        <a:srgbClr val="238636"/>
      </a:accent3>
      <a:accent4>
        <a:srgbClr val="DA3633"/>
      </a:accent4>
      <a:accent5>
        <a:srgbClr val="9A6700"/>
      </a:accent5>
      <a:accent6>
        <a:srgbClr val="58A6FF"/>
      </a:accent6>
      <a:hlink>
        <a:srgbClr val="0563C1"/>
      </a:hlink>
      <a:folHlink>
        <a:srgbClr val="954F72"/>
      </a:folHlink>
    </a:clrScheme>
    <a:fontScheme name="GitHub en Windows y Linu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en Windows y Linux</dc:title>
  <dc:subject/>
  <dc:creator/>
  <cp:lastModifiedBy/>
  <cp:revision>1</cp:revision>
  <dcterms:created xsi:type="dcterms:W3CDTF">2026-10-12T20:05:37Z</dcterms:created>
  <dcterms:modified xsi:type="dcterms:W3CDTF">2026-10-12T20:05:37Z</dcterms:modified>
</cp:coreProperties>
</file>